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5" r:id="rId4"/>
    <p:sldId id="264" r:id="rId5"/>
    <p:sldId id="267" r:id="rId6"/>
    <p:sldId id="261" r:id="rId7"/>
    <p:sldId id="268" r:id="rId8"/>
    <p:sldId id="266" r:id="rId9"/>
    <p:sldId id="259" r:id="rId10"/>
    <p:sldId id="260" r:id="rId11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9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84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2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8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1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0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1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2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6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1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1670A-77DF-43D8-9A1C-6CBADEEB7971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ADD71-4E51-4F83-BD8C-867183966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2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D900-5521-7C84-6EB8-23EFE5523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Fish Biodiversity Database of Rotenone Stations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AF6BE-9D98-5E7D-17FA-1C04231708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Flowchart of input, scripts, output</a:t>
            </a:r>
          </a:p>
          <a:p>
            <a:r>
              <a:rPr lang="en-US" dirty="0"/>
              <a:t>Inputs can be scripts that are sourced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522270-8370-F0C4-446A-508398069277}"/>
              </a:ext>
            </a:extLst>
          </p:cNvPr>
          <p:cNvSpPr/>
          <p:nvPr/>
        </p:nvSpPr>
        <p:spPr>
          <a:xfrm>
            <a:off x="3084768" y="8360182"/>
            <a:ext cx="1433447" cy="7766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Script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7CB42A-42F3-0282-6CA6-BB186CB653D1}"/>
              </a:ext>
            </a:extLst>
          </p:cNvPr>
          <p:cNvSpPr/>
          <p:nvPr/>
        </p:nvSpPr>
        <p:spPr>
          <a:xfrm>
            <a:off x="971551" y="8360182"/>
            <a:ext cx="1433447" cy="776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0490BE-CEB4-CEF3-0DE6-75CE82458589}"/>
              </a:ext>
            </a:extLst>
          </p:cNvPr>
          <p:cNvSpPr/>
          <p:nvPr/>
        </p:nvSpPr>
        <p:spPr>
          <a:xfrm>
            <a:off x="5197985" y="8360181"/>
            <a:ext cx="1433447" cy="77661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Output: </a:t>
            </a:r>
            <a:r>
              <a:rPr lang="en-US" dirty="0" err="1"/>
              <a:t>dataframe</a:t>
            </a:r>
            <a:r>
              <a:rPr lang="en-US" dirty="0"/>
              <a:t>, csv, xlsx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B16C6-A427-A43E-9745-7C6E0660064A}"/>
              </a:ext>
            </a:extLst>
          </p:cNvPr>
          <p:cNvSpPr/>
          <p:nvPr/>
        </p:nvSpPr>
        <p:spPr>
          <a:xfrm>
            <a:off x="5197985" y="9223650"/>
            <a:ext cx="1433447" cy="68844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Output: figure</a:t>
            </a:r>
          </a:p>
        </p:txBody>
      </p:sp>
    </p:spTree>
    <p:extLst>
      <p:ext uri="{BB962C8B-B14F-4D97-AF65-F5344CB8AC3E}">
        <p14:creationId xmlns:p14="http://schemas.microsoft.com/office/powerpoint/2010/main" val="305013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8050-7BD6-685C-3C4B-5F82A426A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991341"/>
          </a:xfrm>
        </p:spPr>
        <p:txBody>
          <a:bodyPr/>
          <a:lstStyle/>
          <a:p>
            <a:r>
              <a:rPr lang="en-US" dirty="0" err="1"/>
              <a:t>fish_biodiversity</a:t>
            </a:r>
            <a:r>
              <a:rPr lang="en-US" dirty="0"/>
              <a:t>/scripts/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C06B75-506B-234C-1513-07CE846D50B9}"/>
              </a:ext>
            </a:extLst>
          </p:cNvPr>
          <p:cNvSpPr/>
          <p:nvPr/>
        </p:nvSpPr>
        <p:spPr>
          <a:xfrm>
            <a:off x="0" y="2033719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allencoralatlas.R</a:t>
            </a:r>
            <a:endParaRPr lang="en-US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012D14-22AE-239A-E96C-294860467385}"/>
              </a:ext>
            </a:extLst>
          </p:cNvPr>
          <p:cNvSpPr/>
          <p:nvPr/>
        </p:nvSpPr>
        <p:spPr>
          <a:xfrm>
            <a:off x="0" y="3215998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distance_calculations_mpa.R</a:t>
            </a:r>
            <a:endParaRPr lang="en-US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994597-B1AA-3149-BE61-60952F28631C}"/>
              </a:ext>
            </a:extLst>
          </p:cNvPr>
          <p:cNvSpPr/>
          <p:nvPr/>
        </p:nvSpPr>
        <p:spPr>
          <a:xfrm>
            <a:off x="0" y="4187095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EstimateR.R</a:t>
            </a:r>
            <a:endParaRPr lang="en-US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A5845A-F6DB-8C8A-0221-9AA992907AF1}"/>
              </a:ext>
            </a:extLst>
          </p:cNvPr>
          <p:cNvSpPr/>
          <p:nvPr/>
        </p:nvSpPr>
        <p:spPr>
          <a:xfrm>
            <a:off x="-76200" y="5133235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permanova.R</a:t>
            </a:r>
            <a:endParaRPr 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B9828D-4074-0082-E7E7-21F4CD35D04E}"/>
              </a:ext>
            </a:extLst>
          </p:cNvPr>
          <p:cNvSpPr/>
          <p:nvPr/>
        </p:nvSpPr>
        <p:spPr>
          <a:xfrm>
            <a:off x="-76200" y="6350149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read_mpa_shapefile.R</a:t>
            </a:r>
            <a:endParaRPr lang="en-US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D8531C-EF5D-8A1D-1CCF-D6F074CCB94A}"/>
              </a:ext>
            </a:extLst>
          </p:cNvPr>
          <p:cNvSpPr/>
          <p:nvPr/>
        </p:nvSpPr>
        <p:spPr>
          <a:xfrm>
            <a:off x="0" y="7936661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scrapePhilippineMPADB_MarineProtecttedAreasList.R</a:t>
            </a:r>
            <a:endParaRPr lang="en-US" sz="2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94EA69-AF5F-1D6D-35C1-A6834B912C50}"/>
              </a:ext>
            </a:extLst>
          </p:cNvPr>
          <p:cNvSpPr/>
          <p:nvPr/>
        </p:nvSpPr>
        <p:spPr>
          <a:xfrm>
            <a:off x="0" y="9202841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veganize_data.R</a:t>
            </a:r>
            <a:endParaRPr lang="en-US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DA5D95-6239-4492-E137-862AC9FE0234}"/>
              </a:ext>
            </a:extLst>
          </p:cNvPr>
          <p:cNvSpPr/>
          <p:nvPr/>
        </p:nvSpPr>
        <p:spPr>
          <a:xfrm>
            <a:off x="4114800" y="1916145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visualize_arcgis_pop.R</a:t>
            </a:r>
            <a:endParaRPr lang="en-US" sz="2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64A3FF-3C2E-36D4-0BA3-81A4D3FFFCB3}"/>
              </a:ext>
            </a:extLst>
          </p:cNvPr>
          <p:cNvSpPr/>
          <p:nvPr/>
        </p:nvSpPr>
        <p:spPr>
          <a:xfrm>
            <a:off x="4114800" y="4950889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wrangle_arcgis.R</a:t>
            </a:r>
            <a:endParaRPr lang="en-US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42195D-7D49-DE87-BEDD-D1DA24013F2C}"/>
              </a:ext>
            </a:extLst>
          </p:cNvPr>
          <p:cNvSpPr/>
          <p:nvPr/>
        </p:nvSpPr>
        <p:spPr>
          <a:xfrm>
            <a:off x="4114800" y="5816836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wrangle_cas_data.R</a:t>
            </a:r>
            <a:endParaRPr lang="en-US" sz="2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E077BA-92EB-EFE3-39A8-AAC0FE830205}"/>
              </a:ext>
            </a:extLst>
          </p:cNvPr>
          <p:cNvSpPr/>
          <p:nvPr/>
        </p:nvSpPr>
        <p:spPr>
          <a:xfrm>
            <a:off x="4114800" y="2997146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visualize_pca_mpa_influence.R</a:t>
            </a:r>
            <a:endParaRPr lang="en-US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F67EFF-0C21-D079-19C4-9DFF7C4E976B}"/>
              </a:ext>
            </a:extLst>
          </p:cNvPr>
          <p:cNvSpPr/>
          <p:nvPr/>
        </p:nvSpPr>
        <p:spPr>
          <a:xfrm>
            <a:off x="4114800" y="6630992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wrangle_cas_si_su_data.R</a:t>
            </a:r>
            <a:endParaRPr lang="en-US" sz="2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BCE0E87-901F-1B05-53E0-478EFE1C194F}"/>
              </a:ext>
            </a:extLst>
          </p:cNvPr>
          <p:cNvSpPr/>
          <p:nvPr/>
        </p:nvSpPr>
        <p:spPr>
          <a:xfrm>
            <a:off x="4114800" y="7473430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wrangle_SU-SI_DuplicatesNewData.R</a:t>
            </a:r>
            <a:endParaRPr lang="en-US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1C150B-CE5A-9C34-8C95-EFE0D10719F5}"/>
              </a:ext>
            </a:extLst>
          </p:cNvPr>
          <p:cNvSpPr/>
          <p:nvPr/>
        </p:nvSpPr>
        <p:spPr>
          <a:xfrm>
            <a:off x="4114800" y="8348549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wrangle_worldpop.R</a:t>
            </a:r>
            <a:endParaRPr lang="en-US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1848D8-1793-2248-C821-F397CB3D1B01}"/>
              </a:ext>
            </a:extLst>
          </p:cNvPr>
          <p:cNvSpPr/>
          <p:nvPr/>
        </p:nvSpPr>
        <p:spPr>
          <a:xfrm>
            <a:off x="4114800" y="9202841"/>
            <a:ext cx="3657600" cy="64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wrangleStationData_SI.R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5663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AD4D6-94C0-70B9-0052-688951A9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76CCE7-8082-B35B-8FDF-78863A44A564}"/>
              </a:ext>
            </a:extLst>
          </p:cNvPr>
          <p:cNvSpPr/>
          <p:nvPr/>
        </p:nvSpPr>
        <p:spPr>
          <a:xfrm>
            <a:off x="508295" y="2619400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wrangle_cas_data.R</a:t>
            </a:r>
            <a:endParaRPr lang="en-US" sz="12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98518A-CC0A-BE7F-8281-53DC5597F392}"/>
              </a:ext>
            </a:extLst>
          </p:cNvPr>
          <p:cNvSpPr/>
          <p:nvPr/>
        </p:nvSpPr>
        <p:spPr>
          <a:xfrm>
            <a:off x="508295" y="1521324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wrangleStationData_SI.R</a:t>
            </a:r>
            <a:endParaRPr lang="en-US" sz="12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047FE2-A82F-6093-318C-2CC061F95EAF}"/>
              </a:ext>
            </a:extLst>
          </p:cNvPr>
          <p:cNvSpPr/>
          <p:nvPr/>
        </p:nvSpPr>
        <p:spPr>
          <a:xfrm>
            <a:off x="1104900" y="7467"/>
            <a:ext cx="5372100" cy="10593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/>
              <a:t>wrangle_cas_si_su_data.R</a:t>
            </a:r>
            <a:endParaRPr lang="en-US" sz="3600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D9DCD6-6595-C31A-4DDA-5737DDECA6A4}"/>
              </a:ext>
            </a:extLst>
          </p:cNvPr>
          <p:cNvSpPr/>
          <p:nvPr/>
        </p:nvSpPr>
        <p:spPr>
          <a:xfrm>
            <a:off x="508295" y="207036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wrangle_SU-SI_DuplicatesNewData.R</a:t>
            </a:r>
            <a:endParaRPr lang="en-US" sz="1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7C2231-5420-AFFE-76C5-ADE3FE639C79}"/>
              </a:ext>
            </a:extLst>
          </p:cNvPr>
          <p:cNvSpPr txBox="1"/>
          <p:nvPr/>
        </p:nvSpPr>
        <p:spPr>
          <a:xfrm>
            <a:off x="3643352" y="108735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SCRIPT	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60FBEE-ACD0-907E-6BF4-E86FF89C73FE}"/>
              </a:ext>
            </a:extLst>
          </p:cNvPr>
          <p:cNvSpPr/>
          <p:nvPr/>
        </p:nvSpPr>
        <p:spPr>
          <a:xfrm>
            <a:off x="5152196" y="1501487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data_cas_si_su_mpa_pop</a:t>
            </a:r>
            <a:endParaRPr lang="en-US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C5E1B-5BDA-63E7-90D5-77453253067B}"/>
              </a:ext>
            </a:extLst>
          </p:cNvPr>
          <p:cNvSpPr txBox="1"/>
          <p:nvPr/>
        </p:nvSpPr>
        <p:spPr>
          <a:xfrm>
            <a:off x="6057605" y="1087284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D0E4C-B531-D034-DD80-790549CE862A}"/>
              </a:ext>
            </a:extLst>
          </p:cNvPr>
          <p:cNvSpPr txBox="1"/>
          <p:nvPr/>
        </p:nvSpPr>
        <p:spPr>
          <a:xfrm>
            <a:off x="922113" y="10830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	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1DAB66-E7A9-AB9B-E6A9-5D20470C24A9}"/>
              </a:ext>
            </a:extLst>
          </p:cNvPr>
          <p:cNvSpPr/>
          <p:nvPr/>
        </p:nvSpPr>
        <p:spPr>
          <a:xfrm>
            <a:off x="508295" y="3717476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distance_calculations_mpa.R</a:t>
            </a:r>
            <a:endParaRPr lang="en-US" sz="1200" b="1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08B98AC-561F-2907-FCED-CE1B7D243B06}"/>
              </a:ext>
            </a:extLst>
          </p:cNvPr>
          <p:cNvSpPr/>
          <p:nvPr/>
        </p:nvSpPr>
        <p:spPr>
          <a:xfrm>
            <a:off x="3282950" y="1490518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wrangle_cas_si_su_data.R</a:t>
            </a:r>
            <a:endParaRPr lang="en-US" sz="12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9E53F8-3608-5074-3AB8-19247D41AA9C}"/>
              </a:ext>
            </a:extLst>
          </p:cNvPr>
          <p:cNvSpPr/>
          <p:nvPr/>
        </p:nvSpPr>
        <p:spPr>
          <a:xfrm>
            <a:off x="508295" y="428391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visualize_pca_mpa_influence.R</a:t>
            </a:r>
            <a:endParaRPr lang="en-US" sz="12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C895A39-46FD-2CD0-D85A-92C2C20945B1}"/>
              </a:ext>
            </a:extLst>
          </p:cNvPr>
          <p:cNvSpPr/>
          <p:nvPr/>
        </p:nvSpPr>
        <p:spPr>
          <a:xfrm>
            <a:off x="508295" y="3168438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wrangle_arcgis.R</a:t>
            </a:r>
            <a:endParaRPr lang="en-US" sz="12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FB65A8-DB72-0483-79A7-64A1794E6065}"/>
              </a:ext>
            </a:extLst>
          </p:cNvPr>
          <p:cNvSpPr/>
          <p:nvPr/>
        </p:nvSpPr>
        <p:spPr>
          <a:xfrm>
            <a:off x="5152196" y="2144290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data_cas_si_su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5F6FAD-05C9-436C-37DC-F67D7C03CDAA}"/>
              </a:ext>
            </a:extLst>
          </p:cNvPr>
          <p:cNvSpPr/>
          <p:nvPr/>
        </p:nvSpPr>
        <p:spPr>
          <a:xfrm>
            <a:off x="5152196" y="1833418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data_cas_si_su_mpa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9976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F8D6E-F2F1-648D-AA4E-D8A5FCCB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9585DF-8D33-B333-5171-3DEF270CE76F}"/>
              </a:ext>
            </a:extLst>
          </p:cNvPr>
          <p:cNvSpPr/>
          <p:nvPr/>
        </p:nvSpPr>
        <p:spPr>
          <a:xfrm>
            <a:off x="3282950" y="4567097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wrangle_cas_data.R</a:t>
            </a:r>
            <a:endParaRPr lang="en-US" sz="12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48A12E-6F52-8CE5-47D4-5F9941BF77F6}"/>
              </a:ext>
            </a:extLst>
          </p:cNvPr>
          <p:cNvSpPr/>
          <p:nvPr/>
        </p:nvSpPr>
        <p:spPr>
          <a:xfrm>
            <a:off x="3282950" y="1501487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wrangleStationData_SI.R</a:t>
            </a:r>
            <a:endParaRPr lang="en-US" sz="12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8C130E-8B97-5C60-272D-56C0C0E672AF}"/>
              </a:ext>
            </a:extLst>
          </p:cNvPr>
          <p:cNvSpPr/>
          <p:nvPr/>
        </p:nvSpPr>
        <p:spPr>
          <a:xfrm>
            <a:off x="1104900" y="7467"/>
            <a:ext cx="5372100" cy="10593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/>
              <a:t>wrangle_cas_si_su_data.R</a:t>
            </a:r>
            <a:endParaRPr lang="en-US" sz="3200" b="1" dirty="0"/>
          </a:p>
          <a:p>
            <a:pPr algn="ctr"/>
            <a:r>
              <a:rPr lang="en-US" sz="3200" b="1" dirty="0"/>
              <a:t>dependencies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0DC861-DBBA-97CB-7473-2AEC62CE1AB6}"/>
              </a:ext>
            </a:extLst>
          </p:cNvPr>
          <p:cNvSpPr/>
          <p:nvPr/>
        </p:nvSpPr>
        <p:spPr>
          <a:xfrm>
            <a:off x="3282950" y="303429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wrangle_SU-SI_DuplicatesNewData.R</a:t>
            </a:r>
            <a:endParaRPr lang="en-US" sz="12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33B98F-B736-8309-24E0-BCA9D8E460C5}"/>
              </a:ext>
            </a:extLst>
          </p:cNvPr>
          <p:cNvSpPr/>
          <p:nvPr/>
        </p:nvSpPr>
        <p:spPr>
          <a:xfrm>
            <a:off x="16704" y="1501487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../SI/</a:t>
            </a:r>
            <a:r>
              <a:rPr lang="en-US" sz="1200" b="1" dirty="0" err="1"/>
              <a:t>Collections_Data</a:t>
            </a:r>
            <a:r>
              <a:rPr lang="en-US" sz="1200" b="1" dirty="0"/>
              <a:t>/*.csv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BF9A00-2FA0-0835-D121-62519312C344}"/>
              </a:ext>
            </a:extLst>
          </p:cNvPr>
          <p:cNvSpPr/>
          <p:nvPr/>
        </p:nvSpPr>
        <p:spPr>
          <a:xfrm>
            <a:off x="16704" y="1854716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../SI/Coordinates/Coordinate_Conversions.xlsx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CEE2A5-69DA-63D0-5E09-1A9598C5D78B}"/>
              </a:ext>
            </a:extLst>
          </p:cNvPr>
          <p:cNvSpPr/>
          <p:nvPr/>
        </p:nvSpPr>
        <p:spPr>
          <a:xfrm>
            <a:off x="16704" y="2207945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../data/station_info.xlsx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CF4F84-3206-02E8-5E2D-C806B8A93DD9}"/>
              </a:ext>
            </a:extLst>
          </p:cNvPr>
          <p:cNvSpPr/>
          <p:nvPr/>
        </p:nvSpPr>
        <p:spPr>
          <a:xfrm>
            <a:off x="16704" y="2561175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../data/All_confirmed_names.xlsx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BC957D-73AE-B4FD-48CB-B14F25FAF410}"/>
              </a:ext>
            </a:extLst>
          </p:cNvPr>
          <p:cNvSpPr txBox="1"/>
          <p:nvPr/>
        </p:nvSpPr>
        <p:spPr>
          <a:xfrm>
            <a:off x="3643352" y="108735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SCRIPT	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6F73FD-A774-EF07-2C19-478B69BC94AD}"/>
              </a:ext>
            </a:extLst>
          </p:cNvPr>
          <p:cNvSpPr/>
          <p:nvPr/>
        </p:nvSpPr>
        <p:spPr>
          <a:xfrm>
            <a:off x="5152196" y="1501487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data_si_station_gis</a:t>
            </a:r>
            <a:endParaRPr lang="en-US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D7017-B167-AEC9-8DAF-C8DE5BDB4647}"/>
              </a:ext>
            </a:extLst>
          </p:cNvPr>
          <p:cNvSpPr txBox="1"/>
          <p:nvPr/>
        </p:nvSpPr>
        <p:spPr>
          <a:xfrm>
            <a:off x="6057605" y="1087284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81BFA-785E-F062-818E-E9E089FA0960}"/>
              </a:ext>
            </a:extLst>
          </p:cNvPr>
          <p:cNvSpPr txBox="1"/>
          <p:nvPr/>
        </p:nvSpPr>
        <p:spPr>
          <a:xfrm>
            <a:off x="922113" y="10830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	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67ADE27-45BF-DABA-DD71-4EE5F37815CB}"/>
              </a:ext>
            </a:extLst>
          </p:cNvPr>
          <p:cNvSpPr/>
          <p:nvPr/>
        </p:nvSpPr>
        <p:spPr>
          <a:xfrm>
            <a:off x="16704" y="3028699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../data/SU-SI_Duplicates_20220808.xlsx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BBE925-5B89-D811-B814-BB49EEE40A82}"/>
              </a:ext>
            </a:extLst>
          </p:cNvPr>
          <p:cNvSpPr/>
          <p:nvPr/>
        </p:nvSpPr>
        <p:spPr>
          <a:xfrm>
            <a:off x="16704" y="3377192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../data/All_confirmed_names.xlsx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489ADB-B8EB-64E0-0BCE-8A2AAB01576B}"/>
              </a:ext>
            </a:extLst>
          </p:cNvPr>
          <p:cNvSpPr/>
          <p:nvPr/>
        </p:nvSpPr>
        <p:spPr>
          <a:xfrm>
            <a:off x="16704" y="3726574"/>
            <a:ext cx="3225800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/>
              <a:t>../SU/su_station_database_20221024.xlsx</a:t>
            </a:r>
          </a:p>
          <a:p>
            <a:pPr algn="ctr"/>
            <a:r>
              <a:rPr lang="es-ES" sz="1200" b="1" dirty="0" err="1"/>
              <a:t>All_Stations</a:t>
            </a:r>
            <a:endParaRPr lang="en-US" sz="1200" b="1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032F5E8-2680-4322-AB81-071B1AE952B6}"/>
              </a:ext>
            </a:extLst>
          </p:cNvPr>
          <p:cNvSpPr/>
          <p:nvPr/>
        </p:nvSpPr>
        <p:spPr>
          <a:xfrm>
            <a:off x="5143500" y="3028699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data_su_all</a:t>
            </a:r>
            <a:endParaRPr lang="en-US" sz="12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EEC332-131A-E502-6A15-3152A9656CA3}"/>
              </a:ext>
            </a:extLst>
          </p:cNvPr>
          <p:cNvSpPr/>
          <p:nvPr/>
        </p:nvSpPr>
        <p:spPr>
          <a:xfrm>
            <a:off x="25400" y="4561503"/>
            <a:ext cx="3225800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../CAS/CAS fish count by site PH 2016.xlsx</a:t>
            </a:r>
          </a:p>
          <a:p>
            <a:pPr algn="ctr"/>
            <a:r>
              <a:rPr lang="en-US" sz="1200" b="1" dirty="0"/>
              <a:t>B1:AD490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A93106-D060-C2D7-254A-F0A93A5CE322}"/>
              </a:ext>
            </a:extLst>
          </p:cNvPr>
          <p:cNvSpPr/>
          <p:nvPr/>
        </p:nvSpPr>
        <p:spPr>
          <a:xfrm>
            <a:off x="16704" y="5208015"/>
            <a:ext cx="3225800" cy="45719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../CAS/CAS-Fishes-VIP2016-localities.xlsx</a:t>
            </a:r>
          </a:p>
          <a:p>
            <a:pPr algn="ctr"/>
            <a:r>
              <a:rPr lang="en-US" sz="1200" b="1" dirty="0"/>
              <a:t>Phil_0416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49F8A2D-52B8-28E9-6C13-AF6590A99A21}"/>
              </a:ext>
            </a:extLst>
          </p:cNvPr>
          <p:cNvSpPr/>
          <p:nvPr/>
        </p:nvSpPr>
        <p:spPr>
          <a:xfrm>
            <a:off x="25400" y="5755292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../data/All_confirmed_names.xlsx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9444D3-C85B-507F-3B60-8F5FE2DF5260}"/>
              </a:ext>
            </a:extLst>
          </p:cNvPr>
          <p:cNvSpPr/>
          <p:nvPr/>
        </p:nvSpPr>
        <p:spPr>
          <a:xfrm>
            <a:off x="5143500" y="4575726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data_cas_all</a:t>
            </a:r>
            <a:endParaRPr lang="en-US" sz="1200" b="1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9DF298B-3A8E-380F-F485-880220962245}"/>
              </a:ext>
            </a:extLst>
          </p:cNvPr>
          <p:cNvSpPr/>
          <p:nvPr/>
        </p:nvSpPr>
        <p:spPr>
          <a:xfrm>
            <a:off x="5143500" y="1770898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data_si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83628C6-0BEA-9FB8-3CCA-C3785D2E3ADD}"/>
              </a:ext>
            </a:extLst>
          </p:cNvPr>
          <p:cNvSpPr/>
          <p:nvPr/>
        </p:nvSpPr>
        <p:spPr>
          <a:xfrm>
            <a:off x="5150926" y="2050474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data_si_station</a:t>
            </a:r>
            <a:endParaRPr lang="en-US" sz="12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872E054-2F7F-EAA2-BC41-AEE5C8225C2E}"/>
              </a:ext>
            </a:extLst>
          </p:cNvPr>
          <p:cNvSpPr/>
          <p:nvPr/>
        </p:nvSpPr>
        <p:spPr>
          <a:xfrm>
            <a:off x="5143500" y="2332575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data_gis</a:t>
            </a:r>
            <a:endParaRPr lang="en-US" sz="12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AB77A96-8A46-8110-1116-AA69CA624B1F}"/>
              </a:ext>
            </a:extLst>
          </p:cNvPr>
          <p:cNvSpPr/>
          <p:nvPr/>
        </p:nvSpPr>
        <p:spPr>
          <a:xfrm>
            <a:off x="5150926" y="3610523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data_su_metadata</a:t>
            </a:r>
            <a:endParaRPr lang="en-US" sz="12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04AB0CE-B434-872B-D78F-9D47D3A1E5B7}"/>
              </a:ext>
            </a:extLst>
          </p:cNvPr>
          <p:cNvSpPr/>
          <p:nvPr/>
        </p:nvSpPr>
        <p:spPr>
          <a:xfrm>
            <a:off x="5143500" y="3328422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data_su</a:t>
            </a:r>
            <a:endParaRPr lang="en-US" sz="12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1C84B98-43FF-0967-4B63-130BEC957A7D}"/>
              </a:ext>
            </a:extLst>
          </p:cNvPr>
          <p:cNvSpPr/>
          <p:nvPr/>
        </p:nvSpPr>
        <p:spPr>
          <a:xfrm>
            <a:off x="5143500" y="4888471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data_cas</a:t>
            </a:r>
            <a:endParaRPr lang="en-US" sz="12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308F7FD-8C51-1DF2-DF93-B19F7E3A06AF}"/>
              </a:ext>
            </a:extLst>
          </p:cNvPr>
          <p:cNvSpPr/>
          <p:nvPr/>
        </p:nvSpPr>
        <p:spPr>
          <a:xfrm>
            <a:off x="5150926" y="5166304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metadata_cas</a:t>
            </a:r>
            <a:endParaRPr lang="en-US" sz="120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2E90542-B4E6-6B19-0073-6484FF46A9C8}"/>
              </a:ext>
            </a:extLst>
          </p:cNvPr>
          <p:cNvSpPr/>
          <p:nvPr/>
        </p:nvSpPr>
        <p:spPr>
          <a:xfrm>
            <a:off x="3282950" y="6204148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wrangle_arcgis.R</a:t>
            </a:r>
            <a:endParaRPr lang="en-US" sz="1200" b="1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8D01CC2-4EAF-3D36-AA2A-4ED3C226D531}"/>
              </a:ext>
            </a:extLst>
          </p:cNvPr>
          <p:cNvSpPr/>
          <p:nvPr/>
        </p:nvSpPr>
        <p:spPr>
          <a:xfrm>
            <a:off x="723900" y="620371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wrangle_cas_si_su_data.R</a:t>
            </a:r>
            <a:endParaRPr lang="en-US" sz="1200" b="1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D02CFF8-C6C4-BCEA-A8F8-CE98EAD35552}"/>
              </a:ext>
            </a:extLst>
          </p:cNvPr>
          <p:cNvSpPr/>
          <p:nvPr/>
        </p:nvSpPr>
        <p:spPr>
          <a:xfrm>
            <a:off x="25400" y="6752002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../data/gis/PhL_Province_Pop/</a:t>
            </a:r>
            <a:endParaRPr lang="en-US" sz="12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9A90206-86D7-0366-1587-41B95144B872}"/>
              </a:ext>
            </a:extLst>
          </p:cNvPr>
          <p:cNvSpPr/>
          <p:nvPr/>
        </p:nvSpPr>
        <p:spPr>
          <a:xfrm>
            <a:off x="25400" y="7060466"/>
            <a:ext cx="7721600" cy="8763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wrangle_arcgis.R</a:t>
            </a:r>
            <a:r>
              <a:rPr lang="en-US" sz="1200" b="1" dirty="0">
                <a:solidFill>
                  <a:schemeClr val="tx1"/>
                </a:solidFill>
              </a:rPr>
              <a:t> sources the script </a:t>
            </a:r>
            <a:r>
              <a:rPr lang="en-US" sz="1200" b="1" dirty="0" err="1">
                <a:solidFill>
                  <a:schemeClr val="tx1"/>
                </a:solidFill>
              </a:rPr>
              <a:t>wrangle_cas_si_su_data.R</a:t>
            </a:r>
            <a:r>
              <a:rPr lang="en-US" sz="1200" b="1" dirty="0">
                <a:solidFill>
                  <a:schemeClr val="tx1"/>
                </a:solidFill>
              </a:rPr>
              <a:t> to generate the </a:t>
            </a:r>
            <a:r>
              <a:rPr lang="en-US" sz="1200" b="1" dirty="0" err="1">
                <a:solidFill>
                  <a:schemeClr val="tx1"/>
                </a:solidFill>
              </a:rPr>
              <a:t>dataframe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err="1">
                <a:solidFill>
                  <a:schemeClr val="tx1"/>
                </a:solidFill>
              </a:rPr>
              <a:t>data_cas_si_su</a:t>
            </a:r>
            <a:r>
              <a:rPr lang="en-US" sz="1200" b="1" dirty="0">
                <a:solidFill>
                  <a:schemeClr val="tx1"/>
                </a:solidFill>
              </a:rPr>
              <a:t>, which is used by </a:t>
            </a:r>
            <a:r>
              <a:rPr lang="en-US" sz="1200" b="1" dirty="0" err="1">
                <a:solidFill>
                  <a:schemeClr val="tx1"/>
                </a:solidFill>
              </a:rPr>
              <a:t>wrangle_arcgis.R</a:t>
            </a:r>
            <a:r>
              <a:rPr lang="en-US" sz="1200" b="1" dirty="0">
                <a:solidFill>
                  <a:schemeClr val="tx1"/>
                </a:solidFill>
              </a:rPr>
              <a:t> to create the </a:t>
            </a:r>
            <a:r>
              <a:rPr lang="en-US" sz="1200" b="1" dirty="0" err="1">
                <a:solidFill>
                  <a:schemeClr val="tx1"/>
                </a:solidFill>
              </a:rPr>
              <a:t>dataframe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err="1">
                <a:solidFill>
                  <a:schemeClr val="tx1"/>
                </a:solidFill>
              </a:rPr>
              <a:t>station_pts</a:t>
            </a:r>
            <a:r>
              <a:rPr lang="en-US" sz="1200" b="1" dirty="0">
                <a:solidFill>
                  <a:schemeClr val="tx1"/>
                </a:solidFill>
              </a:rPr>
              <a:t>. </a:t>
            </a:r>
            <a:r>
              <a:rPr lang="en-US" sz="1200" b="1" dirty="0" err="1">
                <a:solidFill>
                  <a:schemeClr val="tx1"/>
                </a:solidFill>
              </a:rPr>
              <a:t>wrangle_arcgis.R</a:t>
            </a:r>
            <a:r>
              <a:rPr lang="en-US" sz="1200" b="1" dirty="0">
                <a:solidFill>
                  <a:schemeClr val="tx1"/>
                </a:solidFill>
              </a:rPr>
              <a:t> can be run, but it requires the </a:t>
            </a:r>
            <a:r>
              <a:rPr lang="en-US" sz="1200" b="1" dirty="0" err="1">
                <a:solidFill>
                  <a:schemeClr val="tx1"/>
                </a:solidFill>
              </a:rPr>
              <a:t>wrangle_cas_si_su_data.R</a:t>
            </a:r>
            <a:r>
              <a:rPr lang="en-US" sz="1200" b="1" dirty="0">
                <a:solidFill>
                  <a:schemeClr val="tx1"/>
                </a:solidFill>
              </a:rPr>
              <a:t> to be run beforehand to generate the </a:t>
            </a:r>
            <a:r>
              <a:rPr lang="en-US" sz="1200" b="1" dirty="0" err="1">
                <a:solidFill>
                  <a:schemeClr val="tx1"/>
                </a:solidFill>
              </a:rPr>
              <a:t>dataframe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err="1">
                <a:solidFill>
                  <a:schemeClr val="tx1"/>
                </a:solidFill>
              </a:rPr>
              <a:t>data_cas_si_su</a:t>
            </a:r>
            <a:r>
              <a:rPr lang="en-US" sz="1200" b="1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b="1" dirty="0" err="1">
                <a:solidFill>
                  <a:schemeClr val="tx1"/>
                </a:solidFill>
              </a:rPr>
              <a:t>arcgis_tibble</a:t>
            </a:r>
            <a:r>
              <a:rPr lang="en-US" sz="1200" b="1" dirty="0">
                <a:solidFill>
                  <a:schemeClr val="tx1"/>
                </a:solidFill>
              </a:rPr>
              <a:t>: Detected an unexpected many-to-many relationship between `x` and `y`.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0CBB8E-10E5-B637-D810-880349F4325C}"/>
              </a:ext>
            </a:extLst>
          </p:cNvPr>
          <p:cNvSpPr/>
          <p:nvPr/>
        </p:nvSpPr>
        <p:spPr>
          <a:xfrm>
            <a:off x="32826" y="9214780"/>
            <a:ext cx="7721600" cy="6180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wrangle_arcgis.R</a:t>
            </a:r>
            <a:r>
              <a:rPr lang="en-US" sz="1200" b="1" dirty="0">
                <a:solidFill>
                  <a:schemeClr val="tx1"/>
                </a:solidFill>
              </a:rPr>
              <a:t> sources the script </a:t>
            </a:r>
            <a:r>
              <a:rPr lang="en-US" sz="1200" b="1" dirty="0" err="1">
                <a:solidFill>
                  <a:schemeClr val="tx1"/>
                </a:solidFill>
              </a:rPr>
              <a:t>wrangle_cas_si_su_data.R</a:t>
            </a:r>
            <a:r>
              <a:rPr lang="en-US" sz="1200" b="1" dirty="0">
                <a:solidFill>
                  <a:schemeClr val="tx1"/>
                </a:solidFill>
              </a:rPr>
              <a:t> to generate the </a:t>
            </a:r>
            <a:r>
              <a:rPr lang="en-US" sz="1200" b="1" dirty="0" err="1">
                <a:solidFill>
                  <a:schemeClr val="tx1"/>
                </a:solidFill>
              </a:rPr>
              <a:t>dataframe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err="1">
                <a:solidFill>
                  <a:schemeClr val="tx1"/>
                </a:solidFill>
              </a:rPr>
              <a:t>data_cas_si_su</a:t>
            </a:r>
            <a:r>
              <a:rPr lang="en-US" sz="1200" b="1" dirty="0">
                <a:solidFill>
                  <a:schemeClr val="tx1"/>
                </a:solidFill>
              </a:rPr>
              <a:t>, which is used by </a:t>
            </a:r>
            <a:r>
              <a:rPr lang="en-US" sz="1200" b="1" dirty="0" err="1">
                <a:solidFill>
                  <a:schemeClr val="tx1"/>
                </a:solidFill>
              </a:rPr>
              <a:t>wrangle_arcgis.R</a:t>
            </a:r>
            <a:r>
              <a:rPr lang="en-US" sz="1200" b="1" dirty="0">
                <a:solidFill>
                  <a:schemeClr val="tx1"/>
                </a:solidFill>
              </a:rPr>
              <a:t> to create the </a:t>
            </a:r>
            <a:r>
              <a:rPr lang="en-US" sz="1200" b="1" dirty="0" err="1">
                <a:solidFill>
                  <a:schemeClr val="tx1"/>
                </a:solidFill>
              </a:rPr>
              <a:t>dataframe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err="1">
                <a:solidFill>
                  <a:schemeClr val="tx1"/>
                </a:solidFill>
              </a:rPr>
              <a:t>station_pts</a:t>
            </a:r>
            <a:r>
              <a:rPr lang="en-US" sz="1200" b="1" dirty="0">
                <a:solidFill>
                  <a:schemeClr val="tx1"/>
                </a:solidFill>
              </a:rPr>
              <a:t>. </a:t>
            </a:r>
            <a:r>
              <a:rPr lang="en-US" sz="1200" b="1" dirty="0" err="1">
                <a:solidFill>
                  <a:schemeClr val="tx1"/>
                </a:solidFill>
              </a:rPr>
              <a:t>wrangle_arcgis.R</a:t>
            </a:r>
            <a:r>
              <a:rPr lang="en-US" sz="1200" b="1" dirty="0">
                <a:solidFill>
                  <a:schemeClr val="tx1"/>
                </a:solidFill>
              </a:rPr>
              <a:t> can be run, but it requires the </a:t>
            </a:r>
            <a:r>
              <a:rPr lang="en-US" sz="1200" b="1" dirty="0" err="1">
                <a:solidFill>
                  <a:schemeClr val="tx1"/>
                </a:solidFill>
              </a:rPr>
              <a:t>wrangle_cas_si_su_data.R</a:t>
            </a:r>
            <a:r>
              <a:rPr lang="en-US" sz="1200" b="1" dirty="0">
                <a:solidFill>
                  <a:schemeClr val="tx1"/>
                </a:solidFill>
              </a:rPr>
              <a:t> to be run beforehand to generate the </a:t>
            </a:r>
            <a:r>
              <a:rPr lang="en-US" sz="1200" b="1" dirty="0" err="1">
                <a:solidFill>
                  <a:schemeClr val="tx1"/>
                </a:solidFill>
              </a:rPr>
              <a:t>dataframe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err="1">
                <a:solidFill>
                  <a:schemeClr val="tx1"/>
                </a:solidFill>
              </a:rPr>
              <a:t>data_cas_si_su</a:t>
            </a:r>
            <a:r>
              <a:rPr lang="en-US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117679-AF19-B7F6-2C3C-7F01E25307D0}"/>
              </a:ext>
            </a:extLst>
          </p:cNvPr>
          <p:cNvSpPr/>
          <p:nvPr/>
        </p:nvSpPr>
        <p:spPr>
          <a:xfrm>
            <a:off x="5143500" y="8649456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data_cas_si_su_mpa</a:t>
            </a:r>
            <a:endParaRPr lang="en-US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8F2861-C9D1-7C4E-B814-6F63F4A357A3}"/>
              </a:ext>
            </a:extLst>
          </p:cNvPr>
          <p:cNvSpPr/>
          <p:nvPr/>
        </p:nvSpPr>
        <p:spPr>
          <a:xfrm>
            <a:off x="3282950" y="8649456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distance_calculations_mpa.R</a:t>
            </a:r>
            <a:endParaRPr lang="en-US" sz="12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41DFBEA-DF7E-93F1-4D04-7ABB37C42EFD}"/>
              </a:ext>
            </a:extLst>
          </p:cNvPr>
          <p:cNvSpPr/>
          <p:nvPr/>
        </p:nvSpPr>
        <p:spPr>
          <a:xfrm>
            <a:off x="16704" y="8649456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../data/MPA_coordinates_no_deg.xlsx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F2A4080-4BEB-3701-AE25-F88E5EC7D4B3}"/>
              </a:ext>
            </a:extLst>
          </p:cNvPr>
          <p:cNvSpPr/>
          <p:nvPr/>
        </p:nvSpPr>
        <p:spPr>
          <a:xfrm>
            <a:off x="16704" y="8934718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data_cas_si_su</a:t>
            </a:r>
            <a:r>
              <a:rPr lang="en-US" sz="1200" b="1" dirty="0"/>
              <a:t> (</a:t>
            </a:r>
            <a:r>
              <a:rPr lang="en-US" sz="1200" b="1" dirty="0" err="1"/>
              <a:t>dataframe</a:t>
            </a:r>
            <a:r>
              <a:rPr lang="en-US" sz="1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2556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EE4E-C110-411A-D6C7-376A1153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8B4274-CD2B-EB34-0426-01FCABBD67CA}"/>
              </a:ext>
            </a:extLst>
          </p:cNvPr>
          <p:cNvSpPr/>
          <p:nvPr/>
        </p:nvSpPr>
        <p:spPr>
          <a:xfrm>
            <a:off x="1104900" y="7467"/>
            <a:ext cx="5372100" cy="10593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/>
              <a:t>wrangle_cas_si_su_data.R</a:t>
            </a:r>
            <a:endParaRPr lang="en-US" sz="3200" b="1" dirty="0"/>
          </a:p>
          <a:p>
            <a:pPr algn="ctr"/>
            <a:r>
              <a:rPr lang="en-US" sz="3200" b="1" dirty="0"/>
              <a:t>dependencies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73877-AF59-DCAD-7E07-96CDA6429D86}"/>
              </a:ext>
            </a:extLst>
          </p:cNvPr>
          <p:cNvSpPr txBox="1"/>
          <p:nvPr/>
        </p:nvSpPr>
        <p:spPr>
          <a:xfrm>
            <a:off x="3643352" y="108735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SCRIPT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452EB-A123-A43B-5662-B5CBC7D1559C}"/>
              </a:ext>
            </a:extLst>
          </p:cNvPr>
          <p:cNvSpPr txBox="1"/>
          <p:nvPr/>
        </p:nvSpPr>
        <p:spPr>
          <a:xfrm>
            <a:off x="6057605" y="1087284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00641-F7A4-DA08-5EBE-D7B284DA7472}"/>
              </a:ext>
            </a:extLst>
          </p:cNvPr>
          <p:cNvSpPr txBox="1"/>
          <p:nvPr/>
        </p:nvSpPr>
        <p:spPr>
          <a:xfrm>
            <a:off x="922113" y="10830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	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DC1DC2-91C4-A342-A2F7-D406F354B559}"/>
              </a:ext>
            </a:extLst>
          </p:cNvPr>
          <p:cNvSpPr/>
          <p:nvPr/>
        </p:nvSpPr>
        <p:spPr>
          <a:xfrm>
            <a:off x="21336" y="2193172"/>
            <a:ext cx="7721600" cy="6180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>
                <a:solidFill>
                  <a:schemeClr val="tx1"/>
                </a:solidFill>
              </a:rPr>
              <a:t>wrangle_arcgis.R</a:t>
            </a:r>
            <a:r>
              <a:rPr lang="en-US" sz="1200" dirty="0">
                <a:solidFill>
                  <a:schemeClr val="tx1"/>
                </a:solidFill>
              </a:rPr>
              <a:t> sources the script </a:t>
            </a:r>
            <a:r>
              <a:rPr lang="en-US" sz="1200" dirty="0" err="1">
                <a:solidFill>
                  <a:schemeClr val="tx1"/>
                </a:solidFill>
              </a:rPr>
              <a:t>wrangle_cas_si_su_data.R</a:t>
            </a:r>
            <a:r>
              <a:rPr lang="en-US" sz="1200" dirty="0">
                <a:solidFill>
                  <a:schemeClr val="tx1"/>
                </a:solidFill>
              </a:rPr>
              <a:t> to generate the </a:t>
            </a:r>
            <a:r>
              <a:rPr lang="en-US" sz="1200" dirty="0" err="1">
                <a:solidFill>
                  <a:schemeClr val="tx1"/>
                </a:solidFill>
              </a:rPr>
              <a:t>dataframe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data_cas_si_su</a:t>
            </a:r>
            <a:r>
              <a:rPr lang="en-US" sz="1200" dirty="0">
                <a:solidFill>
                  <a:schemeClr val="tx1"/>
                </a:solidFill>
              </a:rPr>
              <a:t>, which is used by </a:t>
            </a:r>
            <a:r>
              <a:rPr lang="en-US" sz="1200" dirty="0" err="1">
                <a:solidFill>
                  <a:schemeClr val="tx1"/>
                </a:solidFill>
              </a:rPr>
              <a:t>wrangle_arcgis.R</a:t>
            </a:r>
            <a:r>
              <a:rPr lang="en-US" sz="1200" dirty="0">
                <a:solidFill>
                  <a:schemeClr val="tx1"/>
                </a:solidFill>
              </a:rPr>
              <a:t> to create the </a:t>
            </a:r>
            <a:r>
              <a:rPr lang="en-US" sz="1200" dirty="0" err="1">
                <a:solidFill>
                  <a:schemeClr val="tx1"/>
                </a:solidFill>
              </a:rPr>
              <a:t>dataframe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station_pts</a:t>
            </a:r>
            <a:r>
              <a:rPr lang="en-US" sz="1200" dirty="0">
                <a:solidFill>
                  <a:schemeClr val="tx1"/>
                </a:solidFill>
              </a:rPr>
              <a:t>. </a:t>
            </a:r>
            <a:r>
              <a:rPr lang="en-US" sz="1200" dirty="0" err="1">
                <a:solidFill>
                  <a:schemeClr val="tx1"/>
                </a:solidFill>
              </a:rPr>
              <a:t>wrangle_arcgis.R</a:t>
            </a:r>
            <a:r>
              <a:rPr lang="en-US" sz="1200" dirty="0">
                <a:solidFill>
                  <a:schemeClr val="tx1"/>
                </a:solidFill>
              </a:rPr>
              <a:t> can be run, but it requires the </a:t>
            </a:r>
            <a:r>
              <a:rPr lang="en-US" sz="1200" dirty="0" err="1">
                <a:solidFill>
                  <a:schemeClr val="tx1"/>
                </a:solidFill>
              </a:rPr>
              <a:t>wrangle_cas_si_su_data.R</a:t>
            </a:r>
            <a:r>
              <a:rPr lang="en-US" sz="1200" dirty="0">
                <a:solidFill>
                  <a:schemeClr val="tx1"/>
                </a:solidFill>
              </a:rPr>
              <a:t> to be run beforehand to generate the </a:t>
            </a:r>
            <a:r>
              <a:rPr lang="en-US" sz="1200" dirty="0" err="1">
                <a:solidFill>
                  <a:schemeClr val="tx1"/>
                </a:solidFill>
              </a:rPr>
              <a:t>dataframe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data_cas_si_su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5145F2-C1C0-0B40-1054-045C87D6A0CE}"/>
              </a:ext>
            </a:extLst>
          </p:cNvPr>
          <p:cNvSpPr/>
          <p:nvPr/>
        </p:nvSpPr>
        <p:spPr>
          <a:xfrm>
            <a:off x="5148132" y="1516374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data_cas_si_su_mpa</a:t>
            </a:r>
            <a:endParaRPr lang="en-US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8C8584-73B2-BE58-F09F-98287BD91FCD}"/>
              </a:ext>
            </a:extLst>
          </p:cNvPr>
          <p:cNvSpPr/>
          <p:nvPr/>
        </p:nvSpPr>
        <p:spPr>
          <a:xfrm>
            <a:off x="3287582" y="1516374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distance_calculations_mpa.R</a:t>
            </a:r>
            <a:endParaRPr lang="en-US" sz="12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A8813A8-D133-E771-66F1-484DFC20CE33}"/>
              </a:ext>
            </a:extLst>
          </p:cNvPr>
          <p:cNvSpPr/>
          <p:nvPr/>
        </p:nvSpPr>
        <p:spPr>
          <a:xfrm>
            <a:off x="21336" y="1516374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../data/MPA_coordinates_no_deg.xlsx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E7274D-1989-0169-FD5B-6D7AF43F7036}"/>
              </a:ext>
            </a:extLst>
          </p:cNvPr>
          <p:cNvSpPr/>
          <p:nvPr/>
        </p:nvSpPr>
        <p:spPr>
          <a:xfrm>
            <a:off x="21336" y="1801636"/>
            <a:ext cx="3225800" cy="228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data_cas_si_su</a:t>
            </a:r>
            <a:r>
              <a:rPr lang="en-US" sz="1200" b="1" dirty="0"/>
              <a:t> (</a:t>
            </a:r>
            <a:r>
              <a:rPr lang="en-US" sz="1200" b="1" dirty="0" err="1"/>
              <a:t>dataframe</a:t>
            </a:r>
            <a:r>
              <a:rPr lang="en-US" sz="1200" b="1" dirty="0"/>
              <a:t>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D3AD70-AC46-F742-826E-B60024B23D59}"/>
              </a:ext>
            </a:extLst>
          </p:cNvPr>
          <p:cNvSpPr/>
          <p:nvPr/>
        </p:nvSpPr>
        <p:spPr>
          <a:xfrm>
            <a:off x="5114290" y="2838412"/>
            <a:ext cx="2606040" cy="438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Density plot: </a:t>
            </a:r>
            <a:r>
              <a:rPr lang="en-US" sz="1200" dirty="0" err="1"/>
              <a:t>distance_closest_mpa_km</a:t>
            </a:r>
            <a:r>
              <a:rPr lang="en-US" sz="1200" dirty="0"/>
              <a:t> by count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8A3703-49CD-64DA-6F23-10B5EFFD3DC4}"/>
              </a:ext>
            </a:extLst>
          </p:cNvPr>
          <p:cNvSpPr/>
          <p:nvPr/>
        </p:nvSpPr>
        <p:spPr>
          <a:xfrm>
            <a:off x="5136896" y="1773587"/>
            <a:ext cx="2603500" cy="37055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data_mpa_study_stationcode_distances</a:t>
            </a:r>
            <a:endParaRPr lang="en-US" sz="1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55842C-A674-1887-65B2-06497E66D82A}"/>
              </a:ext>
            </a:extLst>
          </p:cNvPr>
          <p:cNvSpPr/>
          <p:nvPr/>
        </p:nvSpPr>
        <p:spPr>
          <a:xfrm>
            <a:off x="3247136" y="6127411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visualize_pca_mpa_influence.R</a:t>
            </a:r>
            <a:endParaRPr lang="en-US" sz="12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9EF4B3-012E-E08D-82F7-9ACA4190FD42}"/>
              </a:ext>
            </a:extLst>
          </p:cNvPr>
          <p:cNvSpPr/>
          <p:nvPr/>
        </p:nvSpPr>
        <p:spPr>
          <a:xfrm>
            <a:off x="387918" y="614656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distance_calculations_mpa.R</a:t>
            </a:r>
            <a:endParaRPr 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BB49CF-D4D9-46EC-8652-2D4643EC5B1E}"/>
              </a:ext>
            </a:extLst>
          </p:cNvPr>
          <p:cNvSpPr txBox="1"/>
          <p:nvPr/>
        </p:nvSpPr>
        <p:spPr>
          <a:xfrm>
            <a:off x="445516" y="7052764"/>
            <a:ext cx="404876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Requires </a:t>
            </a:r>
            <a:r>
              <a:rPr lang="en-US" sz="1200" dirty="0" err="1"/>
              <a:t>dataframe</a:t>
            </a:r>
            <a:r>
              <a:rPr lang="en-US" sz="1200" dirty="0"/>
              <a:t> </a:t>
            </a:r>
            <a:r>
              <a:rPr lang="en-US" sz="1200" dirty="0" err="1"/>
              <a:t>data_mpa_closest</a:t>
            </a:r>
            <a:r>
              <a:rPr lang="en-US" sz="1200" dirty="0"/>
              <a:t>, which comes from script </a:t>
            </a:r>
            <a:r>
              <a:rPr lang="en-US" sz="1200" dirty="0" err="1"/>
              <a:t>distance_calculations_mpa.R</a:t>
            </a:r>
            <a:r>
              <a:rPr lang="en-US" sz="1200" dirty="0"/>
              <a:t>. </a:t>
            </a:r>
          </a:p>
          <a:p>
            <a:r>
              <a:rPr lang="en-US" sz="1200" dirty="0"/>
              <a:t>Script </a:t>
            </a:r>
            <a:r>
              <a:rPr lang="en-US" sz="1200" dirty="0" err="1"/>
              <a:t>distance_calculations_mpa.R</a:t>
            </a:r>
            <a:r>
              <a:rPr lang="en-US" sz="1200" dirty="0"/>
              <a:t> requires </a:t>
            </a:r>
            <a:r>
              <a:rPr lang="en-US" sz="1200" dirty="0" err="1"/>
              <a:t>wrangle_cas_si_su_data.R</a:t>
            </a:r>
            <a:endParaRPr lang="en-US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997A6F-425B-D4C4-DA1F-6ADB146D807C}"/>
              </a:ext>
            </a:extLst>
          </p:cNvPr>
          <p:cNvSpPr/>
          <p:nvPr/>
        </p:nvSpPr>
        <p:spPr>
          <a:xfrm>
            <a:off x="5098542" y="6146562"/>
            <a:ext cx="2606040" cy="87609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PCA: </a:t>
            </a:r>
            <a:r>
              <a:rPr lang="en-US" sz="1200" dirty="0" err="1"/>
              <a:t>pca_mpa_influence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distance_closest_mpa_km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area_closest_mpa_ha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age_closest_mpa_y</a:t>
            </a:r>
            <a:endParaRPr lang="en-US" sz="1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20CAFF-5D03-74D9-5629-00C6DD078B1B}"/>
              </a:ext>
            </a:extLst>
          </p:cNvPr>
          <p:cNvSpPr/>
          <p:nvPr/>
        </p:nvSpPr>
        <p:spPr>
          <a:xfrm>
            <a:off x="5098542" y="7129378"/>
            <a:ext cx="2606040" cy="103247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PCA: </a:t>
            </a:r>
            <a:r>
              <a:rPr lang="en-US" sz="1200" dirty="0" err="1"/>
              <a:t>pca_mpa_influence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mpa_area_within_xkm_ha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mpa_num_within_xkm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mpa_meanage_within_xkm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mpa_meandist_within_xkm</a:t>
            </a:r>
            <a:endParaRPr lang="en-US" sz="1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F8A9D7-D174-FF70-4F93-BD2D4EDF1487}"/>
              </a:ext>
            </a:extLst>
          </p:cNvPr>
          <p:cNvSpPr/>
          <p:nvPr/>
        </p:nvSpPr>
        <p:spPr>
          <a:xfrm>
            <a:off x="5098542" y="8268568"/>
            <a:ext cx="2606040" cy="137918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PCA: </a:t>
            </a:r>
            <a:r>
              <a:rPr lang="en-US" sz="1200" dirty="0" err="1"/>
              <a:t>pca_mpa_influence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distance_closest_mpa_km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area_closest_mpa_ha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age_closest_mpa_y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mpa_area_within_xkm_ha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mpa_num_within_xkm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 err="1"/>
              <a:t>mpa_meanage_within_xkm</a:t>
            </a:r>
            <a:endParaRPr lang="en-US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AB410EA-9DBE-C8F9-611F-E7CE34035E5D}"/>
              </a:ext>
            </a:extLst>
          </p:cNvPr>
          <p:cNvSpPr/>
          <p:nvPr/>
        </p:nvSpPr>
        <p:spPr>
          <a:xfrm>
            <a:off x="5111750" y="3320285"/>
            <a:ext cx="2606040" cy="438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Density plot: </a:t>
            </a:r>
          </a:p>
          <a:p>
            <a:pPr algn="ctr"/>
            <a:r>
              <a:rPr lang="en-US" sz="1200" dirty="0" err="1"/>
              <a:t>mpa_area_ha</a:t>
            </a:r>
            <a:r>
              <a:rPr lang="en-US" sz="1200" dirty="0"/>
              <a:t> by count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41F57D-3BEB-89CA-0AAA-D2C0286431E8}"/>
              </a:ext>
            </a:extLst>
          </p:cNvPr>
          <p:cNvSpPr/>
          <p:nvPr/>
        </p:nvSpPr>
        <p:spPr>
          <a:xfrm>
            <a:off x="5111750" y="3790706"/>
            <a:ext cx="2606040" cy="21945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mpa_area_ha</a:t>
            </a:r>
            <a:r>
              <a:rPr lang="en-US" sz="1200" dirty="0"/>
              <a:t> by </a:t>
            </a:r>
            <a:r>
              <a:rPr lang="en-US" sz="1200" dirty="0" err="1"/>
              <a:t>mpa_area_ha</a:t>
            </a:r>
            <a:endParaRPr lang="en-US" sz="1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B8D2546-4AC0-B13A-FA16-B566DEA6F287}"/>
              </a:ext>
            </a:extLst>
          </p:cNvPr>
          <p:cNvSpPr/>
          <p:nvPr/>
        </p:nvSpPr>
        <p:spPr>
          <a:xfrm>
            <a:off x="5122986" y="4048844"/>
            <a:ext cx="2606040" cy="438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mpa_area_ha_per_kmfromstation</a:t>
            </a:r>
            <a:r>
              <a:rPr lang="en-US" sz="1200" dirty="0"/>
              <a:t> by station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FAB5EE2-6033-9244-DE2C-9DD805E3F6CF}"/>
              </a:ext>
            </a:extLst>
          </p:cNvPr>
          <p:cNvSpPr/>
          <p:nvPr/>
        </p:nvSpPr>
        <p:spPr>
          <a:xfrm>
            <a:off x="5122986" y="4539430"/>
            <a:ext cx="2606040" cy="438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mpa_haXyrs_per_kmfromstation</a:t>
            </a:r>
            <a:r>
              <a:rPr lang="en-US" sz="1200" dirty="0"/>
              <a:t> by station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38B1261-3C65-4954-D23E-AAC9D811B5A8}"/>
              </a:ext>
            </a:extLst>
          </p:cNvPr>
          <p:cNvSpPr/>
          <p:nvPr/>
        </p:nvSpPr>
        <p:spPr>
          <a:xfrm>
            <a:off x="5145592" y="5049461"/>
            <a:ext cx="2606040" cy="438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sum_mpa_area_ha_within_x_km</a:t>
            </a:r>
            <a:r>
              <a:rPr lang="en-US" sz="1200" dirty="0"/>
              <a:t> by station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008424-07FB-0BB2-AC7A-A194DB0D103A}"/>
              </a:ext>
            </a:extLst>
          </p:cNvPr>
          <p:cNvSpPr/>
          <p:nvPr/>
        </p:nvSpPr>
        <p:spPr>
          <a:xfrm>
            <a:off x="5134356" y="5549478"/>
            <a:ext cx="2606040" cy="438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area_closest_mpa_ha</a:t>
            </a:r>
            <a:r>
              <a:rPr lang="en-US" sz="1200" dirty="0"/>
              <a:t> by </a:t>
            </a:r>
            <a:r>
              <a:rPr lang="en-US" sz="1200" dirty="0" err="1"/>
              <a:t>distance_closest_mpa_km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2535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233055-3E4B-7D86-0AA2-255CDE3DC270}"/>
              </a:ext>
            </a:extLst>
          </p:cNvPr>
          <p:cNvSpPr/>
          <p:nvPr/>
        </p:nvSpPr>
        <p:spPr>
          <a:xfrm>
            <a:off x="3282950" y="1501487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wrangle_hackathon.R</a:t>
            </a:r>
            <a:endParaRPr lang="en-US" sz="12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AD1516-111C-AE3C-0503-992AE73B9E6E}"/>
              </a:ext>
            </a:extLst>
          </p:cNvPr>
          <p:cNvSpPr/>
          <p:nvPr/>
        </p:nvSpPr>
        <p:spPr>
          <a:xfrm>
            <a:off x="1104900" y="215479"/>
            <a:ext cx="5372100" cy="8513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889B7A-55FF-80CA-8147-3FEEBCBBD354}"/>
              </a:ext>
            </a:extLst>
          </p:cNvPr>
          <p:cNvSpPr txBox="1"/>
          <p:nvPr/>
        </p:nvSpPr>
        <p:spPr>
          <a:xfrm>
            <a:off x="3643352" y="108735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SCRIPT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9E3E0-7269-924F-A5B5-C68C5B80EBE6}"/>
              </a:ext>
            </a:extLst>
          </p:cNvPr>
          <p:cNvSpPr txBox="1"/>
          <p:nvPr/>
        </p:nvSpPr>
        <p:spPr>
          <a:xfrm>
            <a:off x="6057605" y="1087284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693B8-B001-51BA-D2C7-85B261581FC5}"/>
              </a:ext>
            </a:extLst>
          </p:cNvPr>
          <p:cNvSpPr txBox="1"/>
          <p:nvPr/>
        </p:nvSpPr>
        <p:spPr>
          <a:xfrm>
            <a:off x="922113" y="10830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	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D3A291-0D90-BA73-2F22-A04435859284}"/>
              </a:ext>
            </a:extLst>
          </p:cNvPr>
          <p:cNvSpPr/>
          <p:nvPr/>
        </p:nvSpPr>
        <p:spPr>
          <a:xfrm>
            <a:off x="5143500" y="9394110"/>
            <a:ext cx="2603500" cy="228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data_cas_si_su_mpa_pop</a:t>
            </a:r>
            <a:endParaRPr lang="en-US" sz="1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E8FFC5-186E-AFB9-C0E5-AA73FCA65789}"/>
              </a:ext>
            </a:extLst>
          </p:cNvPr>
          <p:cNvSpPr/>
          <p:nvPr/>
        </p:nvSpPr>
        <p:spPr>
          <a:xfrm>
            <a:off x="508295" y="2619400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wrangle_cas_data.R</a:t>
            </a:r>
            <a:endParaRPr lang="en-US" sz="12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B44631-6772-BE14-D6D5-B08A029876F7}"/>
              </a:ext>
            </a:extLst>
          </p:cNvPr>
          <p:cNvSpPr/>
          <p:nvPr/>
        </p:nvSpPr>
        <p:spPr>
          <a:xfrm>
            <a:off x="508295" y="1521324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wrangleStationData_SI.R</a:t>
            </a:r>
            <a:endParaRPr lang="en-US" sz="12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C61D9E-3688-3215-D6E9-84019E275F6B}"/>
              </a:ext>
            </a:extLst>
          </p:cNvPr>
          <p:cNvSpPr/>
          <p:nvPr/>
        </p:nvSpPr>
        <p:spPr>
          <a:xfrm>
            <a:off x="508295" y="207036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wrangle_SU-SI_DuplicatesNewData.R</a:t>
            </a:r>
            <a:endParaRPr lang="en-US" sz="12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7185A4-7EC0-BC31-748E-C22D7199BB43}"/>
              </a:ext>
            </a:extLst>
          </p:cNvPr>
          <p:cNvSpPr/>
          <p:nvPr/>
        </p:nvSpPr>
        <p:spPr>
          <a:xfrm>
            <a:off x="508295" y="3717476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distance_calculations_mpa.R</a:t>
            </a:r>
            <a:endParaRPr lang="en-US" sz="12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201F7E-56B8-1C80-7509-2D828921D16F}"/>
              </a:ext>
            </a:extLst>
          </p:cNvPr>
          <p:cNvSpPr/>
          <p:nvPr/>
        </p:nvSpPr>
        <p:spPr>
          <a:xfrm>
            <a:off x="508295" y="428391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visualize_pca_mpa_influence.R</a:t>
            </a:r>
            <a:endParaRPr lang="en-US" sz="1200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6815CC-7205-6DB2-D0E5-06C851867421}"/>
              </a:ext>
            </a:extLst>
          </p:cNvPr>
          <p:cNvSpPr/>
          <p:nvPr/>
        </p:nvSpPr>
        <p:spPr>
          <a:xfrm>
            <a:off x="508295" y="3168438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wrangle_arcgis.R</a:t>
            </a:r>
            <a:endParaRPr lang="en-US" sz="12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31C8687-04F7-DD54-4529-E718CA0A5E6F}"/>
              </a:ext>
            </a:extLst>
          </p:cNvPr>
          <p:cNvSpPr/>
          <p:nvPr/>
        </p:nvSpPr>
        <p:spPr>
          <a:xfrm>
            <a:off x="508295" y="4800600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EstimateR.R</a:t>
            </a:r>
            <a:endParaRPr lang="en-US" sz="1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E0B5CB-CF29-CE15-43C2-17120757B87F}"/>
              </a:ext>
            </a:extLst>
          </p:cNvPr>
          <p:cNvSpPr txBox="1"/>
          <p:nvPr/>
        </p:nvSpPr>
        <p:spPr>
          <a:xfrm>
            <a:off x="611439" y="5518602"/>
            <a:ext cx="4048760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Issue with veganizing data function</a:t>
            </a:r>
          </a:p>
        </p:txBody>
      </p:sp>
    </p:spTree>
    <p:extLst>
      <p:ext uri="{BB962C8B-B14F-4D97-AF65-F5344CB8AC3E}">
        <p14:creationId xmlns:p14="http://schemas.microsoft.com/office/powerpoint/2010/main" val="358553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B1A31-9188-043E-0743-08D79FFE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23EAF9-BE6E-CD93-24C9-A4B54C0A0EB6}"/>
              </a:ext>
            </a:extLst>
          </p:cNvPr>
          <p:cNvSpPr/>
          <p:nvPr/>
        </p:nvSpPr>
        <p:spPr>
          <a:xfrm>
            <a:off x="1104900" y="215479"/>
            <a:ext cx="5372100" cy="8513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7D5B2-0AA6-ADB1-BF19-9AA81D620879}"/>
              </a:ext>
            </a:extLst>
          </p:cNvPr>
          <p:cNvSpPr txBox="1"/>
          <p:nvPr/>
        </p:nvSpPr>
        <p:spPr>
          <a:xfrm>
            <a:off x="3643352" y="108735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SCRIPT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57BAB-5FF9-CD2D-5B1A-5D45F06B34DE}"/>
              </a:ext>
            </a:extLst>
          </p:cNvPr>
          <p:cNvSpPr txBox="1"/>
          <p:nvPr/>
        </p:nvSpPr>
        <p:spPr>
          <a:xfrm>
            <a:off x="6057605" y="1087284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48F62-47D6-0AE3-82A5-76E943235FCA}"/>
              </a:ext>
            </a:extLst>
          </p:cNvPr>
          <p:cNvSpPr txBox="1"/>
          <p:nvPr/>
        </p:nvSpPr>
        <p:spPr>
          <a:xfrm>
            <a:off x="922113" y="10830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	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316183-C411-8980-1015-BCF4D1D9BC60}"/>
              </a:ext>
            </a:extLst>
          </p:cNvPr>
          <p:cNvSpPr/>
          <p:nvPr/>
        </p:nvSpPr>
        <p:spPr>
          <a:xfrm>
            <a:off x="3282950" y="1511293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EstimateR.R</a:t>
            </a:r>
            <a:endParaRPr lang="en-US" sz="12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845EAD-8A3D-5956-9A89-724ED110DC79}"/>
              </a:ext>
            </a:extLst>
          </p:cNvPr>
          <p:cNvSpPr/>
          <p:nvPr/>
        </p:nvSpPr>
        <p:spPr>
          <a:xfrm>
            <a:off x="397933" y="1511293"/>
            <a:ext cx="2125134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wrangle_cas_si_su_data.R</a:t>
            </a:r>
            <a:endParaRPr lang="en-US" sz="1200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8DC456-CF4E-00EE-0C4D-4451730F013D}"/>
              </a:ext>
            </a:extLst>
          </p:cNvPr>
          <p:cNvSpPr/>
          <p:nvPr/>
        </p:nvSpPr>
        <p:spPr>
          <a:xfrm>
            <a:off x="397933" y="2006090"/>
            <a:ext cx="2125134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distance_calculations_mpa.R</a:t>
            </a:r>
            <a:endParaRPr lang="en-US" sz="1200" b="1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C9768C-26E5-131E-811D-1FC9E08FE230}"/>
              </a:ext>
            </a:extLst>
          </p:cNvPr>
          <p:cNvSpPr/>
          <p:nvPr/>
        </p:nvSpPr>
        <p:spPr>
          <a:xfrm>
            <a:off x="397933" y="2523154"/>
            <a:ext cx="2125134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veganize_data.R</a:t>
            </a:r>
            <a:endParaRPr lang="en-US" sz="1200" b="1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902175-DFD5-5C59-F6B3-E6AFADBEF4B3}"/>
              </a:ext>
            </a:extLst>
          </p:cNvPr>
          <p:cNvSpPr/>
          <p:nvPr/>
        </p:nvSpPr>
        <p:spPr>
          <a:xfrm>
            <a:off x="5168900" y="1511292"/>
            <a:ext cx="2603500" cy="146906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/>
              <a:t>data_cas_si_su_vegan</a:t>
            </a:r>
            <a:endParaRPr lang="en-US" sz="1200" dirty="0"/>
          </a:p>
          <a:p>
            <a:r>
              <a:rPr lang="en-US" sz="1200" dirty="0" err="1"/>
              <a:t>data_cas_si_su_vegan.env</a:t>
            </a:r>
            <a:endParaRPr lang="en-US" sz="1200" dirty="0"/>
          </a:p>
          <a:p>
            <a:r>
              <a:rPr lang="en-US" sz="1200" dirty="0" err="1"/>
              <a:t>data_vegan</a:t>
            </a:r>
            <a:endParaRPr lang="en-US" sz="1200" dirty="0"/>
          </a:p>
          <a:p>
            <a:r>
              <a:rPr lang="en-US" sz="1200" dirty="0" err="1"/>
              <a:t>data_vegan.env</a:t>
            </a:r>
            <a:endParaRPr lang="en-US" sz="1200" dirty="0"/>
          </a:p>
          <a:p>
            <a:r>
              <a:rPr lang="en-US" sz="1200" dirty="0" err="1"/>
              <a:t>est_S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58256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DDD4C-6EB9-B81D-DE5C-1BA56F09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6D1570-C0A9-5008-A5C3-D365D30B97BF}"/>
              </a:ext>
            </a:extLst>
          </p:cNvPr>
          <p:cNvSpPr/>
          <p:nvPr/>
        </p:nvSpPr>
        <p:spPr>
          <a:xfrm>
            <a:off x="3282950" y="4567097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visualize_pca_mpa_influence.R</a:t>
            </a:r>
            <a:endParaRPr lang="en-US" sz="12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6E988F-0A14-70F4-E1B8-F5288DF8DF96}"/>
              </a:ext>
            </a:extLst>
          </p:cNvPr>
          <p:cNvSpPr/>
          <p:nvPr/>
        </p:nvSpPr>
        <p:spPr>
          <a:xfrm>
            <a:off x="3282950" y="1501487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visualize_data.R</a:t>
            </a:r>
            <a:endParaRPr lang="en-US" sz="12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9328A0-32C5-48B0-65DC-BDF066022FC5}"/>
              </a:ext>
            </a:extLst>
          </p:cNvPr>
          <p:cNvSpPr/>
          <p:nvPr/>
        </p:nvSpPr>
        <p:spPr>
          <a:xfrm>
            <a:off x="1104900" y="215479"/>
            <a:ext cx="5372100" cy="8513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visualize_*.R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645578-7EA3-5529-FA01-08B156C222B0}"/>
              </a:ext>
            </a:extLst>
          </p:cNvPr>
          <p:cNvSpPr/>
          <p:nvPr/>
        </p:nvSpPr>
        <p:spPr>
          <a:xfrm>
            <a:off x="3282950" y="303429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visualize_arcgis_pop.R</a:t>
            </a:r>
            <a:endParaRPr lang="en-US" sz="1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558E87-B9D8-B030-A2BE-5AEDAF593F01}"/>
              </a:ext>
            </a:extLst>
          </p:cNvPr>
          <p:cNvSpPr txBox="1"/>
          <p:nvPr/>
        </p:nvSpPr>
        <p:spPr>
          <a:xfrm>
            <a:off x="3643352" y="108735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SCRIPT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9DBA2B-560B-21B0-3333-E8EA05166FAF}"/>
              </a:ext>
            </a:extLst>
          </p:cNvPr>
          <p:cNvSpPr txBox="1"/>
          <p:nvPr/>
        </p:nvSpPr>
        <p:spPr>
          <a:xfrm>
            <a:off x="6057605" y="1087284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3EAC7-9B23-D21D-308D-EA63415487CC}"/>
              </a:ext>
            </a:extLst>
          </p:cNvPr>
          <p:cNvSpPr txBox="1"/>
          <p:nvPr/>
        </p:nvSpPr>
        <p:spPr>
          <a:xfrm>
            <a:off x="922113" y="10830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	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1BF870-4531-81B8-DB5F-0487B1ABEF55}"/>
              </a:ext>
            </a:extLst>
          </p:cNvPr>
          <p:cNvSpPr/>
          <p:nvPr/>
        </p:nvSpPr>
        <p:spPr>
          <a:xfrm>
            <a:off x="475742" y="3034292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wrangle_arcgis.R</a:t>
            </a:r>
            <a:endParaRPr lang="en-US" sz="12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650688-B203-62C1-334C-C9B5E3761C96}"/>
              </a:ext>
            </a:extLst>
          </p:cNvPr>
          <p:cNvSpPr/>
          <p:nvPr/>
        </p:nvSpPr>
        <p:spPr>
          <a:xfrm>
            <a:off x="475742" y="3572285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distance_calculations_mpa.R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8430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8D1B-A9A5-0CAC-6174-A6B8B80D0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61BE2-73D9-5EE4-73C4-FD0AA3BDA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7AAE-D2A4-0A4A-E78C-316D1674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2BFF-6E89-CAB3-EF8D-28142CFA4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85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4833</TotalTime>
  <Words>1241</Words>
  <Application>Microsoft Office PowerPoint</Application>
  <PresentationFormat>Custom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Fish Biodiversity Database of Rotenone Stations</vt:lpstr>
      <vt:lpstr>fish_biodiversity/scripts/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Whalen</dc:creator>
  <cp:lastModifiedBy>John Whalen</cp:lastModifiedBy>
  <cp:revision>30</cp:revision>
  <dcterms:created xsi:type="dcterms:W3CDTF">2023-06-01T20:15:33Z</dcterms:created>
  <dcterms:modified xsi:type="dcterms:W3CDTF">2025-05-16T19:44:02Z</dcterms:modified>
</cp:coreProperties>
</file>